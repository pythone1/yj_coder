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20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91440" cy="68580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F5D4"/>
                </a:solidFill>
                <a:latin typeface="Courier New"/>
              </a:defRPr>
            </a:pPr>
            <a:r>
              <a:t>TECHNICAL ROADMAP &amp; CORE ARCHITECTURE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AI Agent 技术路线与核心技术深度解析</a:t>
            </a:r>
          </a:p>
          <a:p>
            <a:pPr>
              <a:spcAft>
                <a:spcPts val="2800"/>
              </a:spcAft>
              <a:defRPr sz="1400" i="1">
                <a:solidFill>
                  <a:srgbClr val="94A3B8"/>
                </a:solidFill>
                <a:latin typeface="Arial"/>
              </a:defRPr>
            </a:pPr>
            <a:r>
              <a:t>Deep Dive into Autonomous AI Agents: Planning, Memory, Action and Multi-Agent Orchestration</a:t>
            </a:r>
          </a:p>
          <a:p>
            <a:br/>
            <a:pPr>
              <a:spcAft>
                <a:spcPts val="1000"/>
              </a:spcAft>
              <a:defRPr sz="1250">
                <a:solidFill>
                  <a:srgbClr val="E2E8F0"/>
                </a:solidFill>
                <a:latin typeface="Microsoft YaHei"/>
              </a:defRPr>
            </a:pPr>
            <a:r>
              <a:t>主讲人：全栈 AI 算法 &amp; 智能体系统架构专家</a:t>
            </a:r>
            <a:br/>
            <a:r>
              <a:t>报告定位：前沿技术分享 · 架构备战答辩 · 核心机制拆解</a:t>
            </a:r>
            <a:br/>
            <a:r>
              <a:t>导出方式：Python 原生矢量渲染幻灯片 (100% 可编辑)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931920"/>
            <a:ext cx="4572000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9436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一、AI Agent 经典架构总览</a:t>
            </a:r>
          </a:p>
          <a:p>
            <a:pPr>
              <a:defRPr sz="1100" b="1">
                <a:solidFill>
                  <a:srgbClr val="00B4D8"/>
                </a:solidFill>
                <a:latin typeface="Microsoft YaHei"/>
              </a:defRPr>
            </a:pPr>
            <a:r>
              <a:t>面向闭环控制的“感知 - 思考 - 行动”核心三要素体系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383280" cy="4389120"/>
          </a:xfrm>
          <a:prstGeom prst="roundRect">
            <a:avLst/>
          </a:prstGeom>
          <a:solidFill>
            <a:srgbClr val="151E33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371600" cy="274320"/>
          </a:xfrm>
          <a:prstGeom prst="roundRect">
            <a:avLst/>
          </a:prstGeom>
          <a:solidFill>
            <a:srgbClr val="720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0A0F1D"/>
                </a:solidFill>
                <a:latin typeface="Microsoft YaHei"/>
              </a:defRPr>
            </a:pPr>
            <a:r>
              <a:t>INPUT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7209B7"/>
                </a:solidFill>
                <a:latin typeface="Microsoft YaHei"/>
              </a:defRPr>
            </a:pPr>
            <a:r>
              <a:t>01 / 感知层 (Perception)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29260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多模态输入解析：不仅支持传统的文本 Prompt 输入，还支持图像、语音、视频及多模态混合输入的特征提取与语义理解。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环境感知与触觉：在具身智能或机器人控制场景中，包含各类传感器数据输入（激光雷达、IMU、触觉传感器）。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主动环境扫描：定期主动拉取数据流（如监控摄像头帧、系统日志），而非被动等待用户下发指令。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645920"/>
            <a:ext cx="3383280" cy="4389120"/>
          </a:xfrm>
          <a:prstGeom prst="roundRect">
            <a:avLst/>
          </a:prstGeom>
          <a:solidFill>
            <a:srgbClr val="151E33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1371600" cy="274320"/>
          </a:xfrm>
          <a:prstGeom prst="round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0A0F1D"/>
                </a:solidFill>
                <a:latin typeface="Microsoft YaHei"/>
              </a:defRPr>
            </a:pPr>
            <a:r>
              <a:t>DECISION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8745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F5D4"/>
                </a:solidFill>
                <a:latin typeface="Microsoft YaHei"/>
              </a:defRPr>
            </a:pPr>
            <a:r>
              <a:t>02 / 核心大脑 (Brain)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331720"/>
            <a:ext cx="29260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目标分解 (Planning)：将复杂的大目标拆解为可操作的微小步骤，并动态调整计划路线。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知识检索 (Memory)：从短期对话上下文和长期外挂向量数据库中快速检索、召回相关事实知识。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任务分配与决策：依据 Prompt 约束与 Fine-tuned 规则，匹配最佳执行策略，决定调用什么工具。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151E33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1371600" cy="2743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0A0F1D"/>
                </a:solidFill>
                <a:latin typeface="Microsoft YaHei"/>
              </a:defRPr>
            </a:pPr>
            <a:r>
              <a:t>EXECUTION UNIT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8745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03 / 执行层 (Action)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331720"/>
            <a:ext cx="29260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结构化工具调用：利用大模型 Function Calling 输出标准 JSON 格式参数，驱动外部 API 接口。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自主代码执行：自动编写 Python/Bash 脚本并在隔离的安全沙盒中运行，处理数学计算与数据可视化。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环境交互响应：将执行结果反向输入给大脑，形成持续修正、滚动的自适应反馈控制环路。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9436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二、大脑核心之：Planning 规划与推理技术</a:t>
            </a:r>
          </a:p>
          <a:p>
            <a:pPr>
              <a:defRPr sz="1100" b="1">
                <a:solidFill>
                  <a:srgbClr val="00B4D8"/>
                </a:solidFill>
                <a:latin typeface="Microsoft YaHei"/>
              </a:defRPr>
            </a:pPr>
            <a:r>
              <a:t>从一步直觉式回复走向深度搜索与反思反馈控制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151E33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371600" cy="274320"/>
          </a:xfrm>
          <a:prstGeom prst="round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0A0F1D"/>
                </a:solidFill>
                <a:latin typeface="Microsoft YaHei"/>
              </a:defRPr>
            </a:pPr>
            <a:r>
              <a:t>THOUGHT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F5D4"/>
                </a:solidFill>
                <a:latin typeface="Microsoft YaHei"/>
              </a:defRPr>
            </a:pPr>
            <a:r>
              <a:t>经典思维路径拓扑 (From Chain to Tree)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48463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思位链 (Chain of Thought, CoT):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让模型写出思考步骤：y = f(x) -&gt; y = f(f(f(x)))。强制大模型逐步推理，激活多步注意特征，大幅降低逻辑推导错误。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思维树 (Tree of Thoughts, ToT):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在多步规划中引入搜索树架构，对每个子步骤（思考节点）生成多个可行分支，结合深度优先(DFS)或广度优先(BFS)评估各分支价值。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蒙特卡洛树搜索 (MCTS) 智能体: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结合大模型打分作为启发式评估函数，在庞大的行动空间中进行多轮 Rollout 模拟，从而求解出极长任务链路的最优动作路径。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645920"/>
            <a:ext cx="5303520" cy="4389120"/>
          </a:xfrm>
          <a:prstGeom prst="roundRect">
            <a:avLst/>
          </a:prstGeom>
          <a:solidFill>
            <a:srgbClr val="151E33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22415" y="1508760"/>
            <a:ext cx="1371600" cy="274320"/>
          </a:xfrm>
          <a:prstGeom prst="round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0A0F1D"/>
                </a:solidFill>
                <a:latin typeface="Microsoft YaHei"/>
              </a:defRPr>
            </a:pPr>
            <a:r>
              <a:t>REFLEXION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8135" y="187452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F5D4"/>
                </a:solidFill>
                <a:latin typeface="Microsoft YaHei"/>
              </a:defRPr>
            </a:pPr>
            <a:r>
              <a:t>动作与反思闭环机制 (Act &amp; Reflexion)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8135" y="2331720"/>
            <a:ext cx="48463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ReAct (Reason + Act) 协同框架: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交替执行『Thought -&gt; Action -&gt; Observation』三步循环。思考驱动动作，动作获得环境反馈（观察），观察修正下一次思考。完全打破了纯静态生成的黑盒模式。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Reflexion 自我修正网络: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Agent 执行任务失败或报错时，将其失败日志和执行路径作为上下文输入给“反思模型”（Evaluator）。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反思模型生成具体的失败归因和避坑提示词（Reflection Vector），并将其注入下一轮迭代的短期记忆中，从而实现无需微调的自主进化。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9436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三、大脑核心之：Memory 记忆机制与知识存取</a:t>
            </a:r>
          </a:p>
          <a:p>
            <a:pPr>
              <a:defRPr sz="1100" b="1">
                <a:solidFill>
                  <a:srgbClr val="00B4D8"/>
                </a:solidFill>
                <a:latin typeface="Microsoft YaHei"/>
              </a:defRPr>
            </a:pPr>
            <a:r>
              <a:t>融合短期序列关联与长期外挂多维检索的双轨记忆架构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151E33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371600" cy="274320"/>
          </a:xfrm>
          <a:prstGeom prst="round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0A0F1D"/>
                </a:solidFill>
                <a:latin typeface="Microsoft YaHei"/>
              </a:defRPr>
            </a:pPr>
            <a:r>
              <a:t>SHORT-TERM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F5D4"/>
                </a:solidFill>
                <a:latin typeface="Microsoft YaHei"/>
              </a:defRPr>
            </a:pPr>
            <a:r>
              <a:t>短期记忆：上下文与会话状态管理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48463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会话上下文缓冲区 (Session Buffer):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存储原生对话、工具调用入参和执行结果。为应对大模型上下文长度极限与显存吞吐压力，通常采用滑动窗口或摘要算法进行遗忘压缩。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结构化系统状态机 (State Machine Memory):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使用严格的状态变量记录 Agent 当前所处的业务步骤（如：已支付、待核销、已退款），确保即使大模型在多轮对话中发生偏置，业务主骨架依旧绝对可控。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KV Cache 读写性能优化: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在智能体快速迭代的极速推理模式中，通过前置缓存 System Prompt 的 Prefill 特征，大幅度降低首Token延迟。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645920"/>
            <a:ext cx="5303520" cy="4389120"/>
          </a:xfrm>
          <a:prstGeom prst="roundRect">
            <a:avLst/>
          </a:prstGeom>
          <a:solidFill>
            <a:srgbClr val="151E33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22415" y="1508760"/>
            <a:ext cx="1371600" cy="274320"/>
          </a:xfrm>
          <a:prstGeom prst="round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0A0F1D"/>
                </a:solidFill>
                <a:latin typeface="Microsoft YaHei"/>
              </a:defRPr>
            </a:pPr>
            <a:r>
              <a:t>LONG-TERM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8135" y="187452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F5D4"/>
                </a:solidFill>
                <a:latin typeface="Microsoft YaHei"/>
              </a:defRPr>
            </a:pPr>
            <a:r>
              <a:t>长期记忆：基于向量与RAG的非结构化检索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8135" y="2331720"/>
            <a:ext cx="48463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混合检索机制 (Hybrid Search):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结合基于稠密向量（Dense Vector）的语义内积检索与基于稀疏向量（Sparse Vector, 如 BM25）的关键词碰撞检索，兼顾同义词理解与专业词汇匹配。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高性能向量底座 (Vector DB):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引入 Milvus、Qdrant 等分布式向量数据库，实现海量嵌入向量（Embedding）的毫秒级 ANN（近似最近邻）搜索。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重排模型过滤 (Reranker):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针对初筛获得的 Top-K 文本块，使用 Cross-Encoder 双向交互重排模型计算二次相关度得分，深度剔除噪声上下文，大幅减缓大模型生成幻觉。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9436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四、工具调用与沙盒安全 (Actions &amp; Tool Integration)</a:t>
            </a:r>
          </a:p>
          <a:p>
            <a:pPr>
              <a:defRPr sz="1100" b="1">
                <a:solidFill>
                  <a:srgbClr val="00B4D8"/>
                </a:solidFill>
                <a:latin typeface="Microsoft YaHei"/>
              </a:defRPr>
            </a:pPr>
            <a:r>
              <a:t>打通大模型与外界真实操作系统的矢量互通与安全防护隔离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383280" cy="4389120"/>
          </a:xfrm>
          <a:prstGeom prst="roundRect">
            <a:avLst/>
          </a:prstGeom>
          <a:solidFill>
            <a:srgbClr val="151E33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371600" cy="274320"/>
          </a:xfrm>
          <a:prstGeom prst="round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0A0F1D"/>
                </a:solidFill>
                <a:latin typeface="Microsoft YaHei"/>
              </a:defRPr>
            </a:pPr>
            <a:r>
              <a:t>SCHEMA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F5D4"/>
                </a:solidFill>
                <a:latin typeface="Microsoft YaHei"/>
              </a:defRPr>
            </a:pPr>
            <a:r>
              <a:t>工具描述与函数调用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29260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JSON Schema 规范化定义：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大模型无法直接点击按钮。开发者必须提供细致的 API 函数描述，包括参数名称、类型及每个参数的业务含义说明，以便模型进行语义模式匹配。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动态意图分类匹配：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大模型提取用户 Prompt 中的实体与动作，计算其与注册工具列表中描述向量的夹角余弦，自动路由到最切合的函数。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645920"/>
            <a:ext cx="3383280" cy="4389120"/>
          </a:xfrm>
          <a:prstGeom prst="roundRect">
            <a:avLst/>
          </a:prstGeom>
          <a:solidFill>
            <a:srgbClr val="151E33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1371600" cy="2743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0A0F1D"/>
                </a:solidFill>
                <a:latin typeface="Microsoft YaHei"/>
              </a:defRPr>
            </a:pPr>
            <a:r>
              <a:t>DYNAMIC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8745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代码解释器 (Code Interpreter)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331720"/>
            <a:ext cx="29260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动态脚本编写：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面对高维数学题、大规模 CSV 数据分析或生成统计图表，传统 LLM 的文本推理极易出错。Agent 则是生成完整的 Python 代码，借由写出代码来间接解决问题。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代码回传与反馈：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如果代码报错，报错信息回传给 Brain，触发 CoT 自动修复，直至代码成功运行并得出结果。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151E33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1371600" cy="274320"/>
          </a:xfrm>
          <a:prstGeom prst="roundRect">
            <a:avLst/>
          </a:prstGeom>
          <a:solidFill>
            <a:srgbClr val="720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0A0F1D"/>
                </a:solidFill>
                <a:latin typeface="Microsoft YaHei"/>
              </a:defRPr>
            </a:pPr>
            <a:r>
              <a:t>SANDBOX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8745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7209B7"/>
                </a:solidFill>
                <a:latin typeface="Microsoft YaHei"/>
              </a:defRPr>
            </a:pPr>
            <a:r>
              <a:t>隔离沙盒与系统安全防护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331720"/>
            <a:ext cx="29260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敏感系统级防御：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绝不允许 Agent 生成的任意代码直接在宿主机裸奔。必须构建极致的沙盒隔离防线，防范勒索软件和拒绝服务攻击。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行业级沙盒实现：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使用 Docker 轻量级容器隔离或 E2B 安全沙盒运行时。严格限制 CPU/内存限额，限制出网流量，并开启系统调用级别审计监控。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9436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五、多智能体协同与编排架构 (Multi-Agent Systems)</a:t>
            </a:r>
          </a:p>
          <a:p>
            <a:pPr>
              <a:defRPr sz="1100" b="1">
                <a:solidFill>
                  <a:srgbClr val="00B4D8"/>
                </a:solidFill>
                <a:latin typeface="Microsoft YaHei"/>
              </a:defRPr>
            </a:pPr>
            <a:r>
              <a:t>从单兵作战演进为有组织、有状态的多角色生产线网络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151E33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371600" cy="274320"/>
          </a:xfrm>
          <a:prstGeom prst="round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0A0F1D"/>
                </a:solidFill>
                <a:latin typeface="Microsoft YaHei"/>
              </a:defRPr>
            </a:pPr>
            <a:r>
              <a:t>COLLABORATION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F5D4"/>
                </a:solidFill>
                <a:latin typeface="Microsoft YaHei"/>
              </a:defRPr>
            </a:pPr>
            <a:r>
              <a:t>多智能体协同范式分类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48463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主从架构 (Manager-Worker Model):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Manager Agent 统一负责接收用户任务、制定主骨架大纲、进行任务细分指派，并对各 Worker Agent 的产出进行严格质检与汇总。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对等协同与辩论机制 (Peer-to-Peer &amp; Debate):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多个同等级 Agent 各司其职。例如『研发 Agent』编写代码，『测试 Agent』运行测试，『安全 Agent』审计漏洞。多角色在消息总线上异步通信，通过辩论博弈提升输出健壮性。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分布式共识驱动: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多 Agent 通过特定协议（如类似于 Raft 或投票表决）对某个全局决策达成最终共识，适合集群分布式寻优场景。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645920"/>
            <a:ext cx="5303520" cy="4389120"/>
          </a:xfrm>
          <a:prstGeom prst="roundRect">
            <a:avLst/>
          </a:prstGeom>
          <a:solidFill>
            <a:srgbClr val="151E33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22415" y="1508760"/>
            <a:ext cx="1371600" cy="274320"/>
          </a:xfrm>
          <a:prstGeom prst="round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0A0F1D"/>
                </a:solidFill>
                <a:latin typeface="Microsoft YaHei"/>
              </a:defRPr>
            </a:pPr>
            <a:r>
              <a:t>FRAMEWORK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8135" y="187452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F5D4"/>
                </a:solidFill>
                <a:latin typeface="Microsoft YaHei"/>
              </a:defRPr>
            </a:pPr>
            <a:r>
              <a:t>主流 Agent 开发框架对比与剖析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8135" y="2331720"/>
            <a:ext cx="48463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LangGraph (基于状态图编排 - 强烈推荐):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将任务流程抽象为图结构（Nodes &amp; Edges）。图的边支持带条件的逻辑分支判断。核心是以全局一致的状态（State）为核心进行流转，完美支持任意循环迭代逻辑，极其可控。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CrewAI (面向角色扮演与团队管理):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以角色（Role）、任务（Task）和团队（Crew）为核心概念。极其易用，善于模拟企业内部多部门配合的工作流逻辑。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AutoGen (面向对话式自主协作):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  由微软主导开发，基于 Agent 间的多轮对话来协同解决问题，支持极高自由度的自主交互，适合开放式的创意与研究性探索。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9436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六、智能体落地演进路线与行业挑战</a:t>
            </a:r>
          </a:p>
          <a:p>
            <a:pPr>
              <a:defRPr sz="1100" b="1">
                <a:solidFill>
                  <a:srgbClr val="00B4D8"/>
                </a:solidFill>
                <a:latin typeface="Microsoft YaHei"/>
              </a:defRPr>
            </a:pPr>
            <a:r>
              <a:t>从低阶提示词包装，向深度微调、高并发状态编排迈进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3383280" cy="3931920"/>
          </a:xfrm>
          <a:prstGeom prst="roundRect">
            <a:avLst/>
          </a:prstGeom>
          <a:solidFill>
            <a:srgbClr val="151E33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74520"/>
            <a:ext cx="1371600" cy="274320"/>
          </a:xfrm>
          <a:prstGeom prst="roundRect">
            <a:avLst/>
          </a:prstGeom>
          <a:solidFill>
            <a:srgbClr val="720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0A0F1D"/>
                </a:solidFill>
                <a:latin typeface="Microsoft YaHei"/>
              </a:defRPr>
            </a:pPr>
            <a:r>
              <a:t>STAGE 1: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7209B7"/>
                </a:solidFill>
                <a:latin typeface="Microsoft YaHei"/>
              </a:defRPr>
            </a:pPr>
            <a:r>
              <a:t>L1 - RAG 与工具浅层包装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292608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主攻方向：基于 LangChain、LlamaIndex 快速搭建本地知识库检索与单 API 接口调用。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特点：构建成本低廉。大模型仅作为单次语义解析与静态回复的外壳，缺乏自我修正和多步循环规划能力。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适用场景：标准文档检索问答、自动化邮件通知草拟。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011680"/>
            <a:ext cx="3383280" cy="3931920"/>
          </a:xfrm>
          <a:prstGeom prst="roundRect">
            <a:avLst/>
          </a:prstGeom>
          <a:solidFill>
            <a:srgbClr val="151E33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874520"/>
            <a:ext cx="1371600" cy="274320"/>
          </a:xfrm>
          <a:prstGeom prst="round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0A0F1D"/>
                </a:solidFill>
                <a:latin typeface="Microsoft YaHei"/>
              </a:defRPr>
            </a:pPr>
            <a:r>
              <a:t>STAGE 2: ADVANCED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2402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F5D4"/>
                </a:solidFill>
                <a:latin typeface="Microsoft YaHei"/>
              </a:defRPr>
            </a:pPr>
            <a:r>
              <a:t>L2 - 复杂图状态工作流编排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97480"/>
            <a:ext cx="292608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主攻方向：引入 LangGraph 进行多角色协作图构建，引入多模态感知与安全代码执行沙盒。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特点：可控性高。通过把控全局状态，加入人类审批机制（Human-in-the-loop），有效杜绝无限调用死循环。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适用场景：复杂合同分析评审、自动化软件 Bug 修复与集成测试。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011680"/>
            <a:ext cx="3383280" cy="3931920"/>
          </a:xfrm>
          <a:prstGeom prst="roundRect">
            <a:avLst/>
          </a:prstGeom>
          <a:solidFill>
            <a:srgbClr val="151E33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20"/>
            <a:ext cx="1371600" cy="2743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0A0F1D"/>
                </a:solidFill>
                <a:latin typeface="Microsoft YaHei"/>
              </a:defRPr>
            </a:pPr>
            <a:r>
              <a:t>STAGE 3: AUTONOMOUS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2402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L3 - 垂直微调与完全自主进化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697480"/>
            <a:ext cx="292608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主攻方向：通过大模型微调（SFT）将 Agent 推理轨迹、工具调用规范（Function Schema）强固化到模型权重中。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特点：推理延迟减半，模型摆脱对巨量 Prompt 的依赖。利用长时反思日志，实现离线策略梯度更新与持续自进化。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Microsoft YaHei"/>
              </a:defRPr>
            </a:pPr>
            <a:r>
              <a:t>■ 适用场景：特定业务场景的完全自主数字员工、具身智能控制中枢。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77640" y="3840480"/>
            <a:ext cx="182880" cy="274320"/>
          </a:xfrm>
          <a:prstGeom prst="rightArrow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635240" y="3840480"/>
            <a:ext cx="182880" cy="27432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51E33"/>
          </a:solidFill>
          <a:ln w="25400">
            <a:solidFill>
              <a:srgbClr val="7209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371600" y="4114800"/>
            <a:ext cx="3657600" cy="3657600"/>
          </a:xfrm>
          <a:prstGeom prst="roundRect">
            <a:avLst/>
          </a:prstGeom>
          <a:solidFill>
            <a:srgbClr val="151E33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3600" b="1">
                <a:solidFill>
                  <a:srgbClr val="00F5D4"/>
                </a:solidFill>
                <a:latin typeface="Microsoft YaHei"/>
              </a:defRPr>
            </a:pPr>
            <a:r>
              <a:t>谢谢您的观看与专业评审</a:t>
            </a:r>
          </a:p>
          <a:p>
            <a:pPr algn="ctr">
              <a:spcAft>
                <a:spcPts val="24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AI Agent 技术路线与核心技术深度解析  |  演示文稿制作完毕</a:t>
            </a:r>
            <a:br/>
            <a:r>
              <a:t>Let's Build the Future of Agentic AI Together.</a:t>
            </a:r>
          </a:p>
          <a:p>
            <a:pPr algn="ctr">
              <a:defRPr sz="1250">
                <a:solidFill>
                  <a:srgbClr val="94A3B8"/>
                </a:solidFill>
                <a:latin typeface="Microsoft YaHei"/>
              </a:defRPr>
            </a:pPr>
            <a:r>
              <a:t>您可以随时双击编辑任何幻灯片中的卡片内容或调整色调。</a:t>
            </a:r>
            <a:br/>
            <a:r>
              <a:t>期待与您进一步交流智能体系统在各行各业的实际落地方法论！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